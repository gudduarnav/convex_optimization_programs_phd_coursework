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8" r:id="rId6"/>
    <p:sldId id="276" r:id="rId7"/>
    <p:sldId id="277" r:id="rId8"/>
    <p:sldId id="278" r:id="rId9"/>
    <p:sldId id="279" r:id="rId10"/>
    <p:sldId id="280" r:id="rId11"/>
    <p:sldId id="281" r:id="rId12"/>
    <p:sldId id="269" r:id="rId13"/>
    <p:sldId id="270" r:id="rId14"/>
    <p:sldId id="271" r:id="rId15"/>
    <p:sldId id="272" r:id="rId16"/>
    <p:sldId id="273" r:id="rId17"/>
    <p:sldId id="258" r:id="rId18"/>
    <p:sldId id="259" r:id="rId19"/>
    <p:sldId id="261" r:id="rId20"/>
    <p:sldId id="262" r:id="rId21"/>
    <p:sldId id="260" r:id="rId22"/>
  </p:sldIdLst>
  <p:sldSz cx="9144000" cy="6858000" type="screen4x3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E26CC-3AAE-4F3E-ADC4-EDBF6AB9F14E}" type="datetimeFigureOut">
              <a:rPr lang="zh-TW" altLang="en-US" smtClean="0"/>
              <a:pPr/>
              <a:t>2024/11/18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B0848-B8C0-4D9F-8065-DA99F0237AC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cvxr.com/cvx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11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CVX_class</a:t>
            </a:r>
            <a:r>
              <a:rPr lang="en-US" altLang="zh-TW" smtClean="0"/>
              <a:t> </a:t>
            </a:r>
            <a:r>
              <a:rPr lang="en-US" altLang="zh-TW" smtClean="0"/>
              <a:t>2024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Cvx</a:t>
            </a:r>
            <a:r>
              <a:rPr lang="en-US" altLang="zh-TW" dirty="0" smtClean="0"/>
              <a:t> tool setup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Search for </a:t>
            </a:r>
            <a:r>
              <a:rPr lang="en-US" altLang="zh-TW" sz="2000" i="1" u="sng" dirty="0" smtClean="0"/>
              <a:t>CVX tool </a:t>
            </a:r>
            <a:r>
              <a:rPr lang="en-US" altLang="zh-TW" sz="2000" dirty="0" smtClean="0"/>
              <a:t>( </a:t>
            </a:r>
            <a:r>
              <a:rPr lang="en-US" altLang="zh-TW" sz="2000" dirty="0" smtClean="0">
                <a:hlinkClick r:id="rId2"/>
              </a:rPr>
              <a:t>http://cvxr.com/cvx/</a:t>
            </a:r>
            <a:r>
              <a:rPr lang="en-US" altLang="zh-TW" sz="2000" dirty="0" smtClean="0"/>
              <a:t> )</a:t>
            </a:r>
          </a:p>
          <a:p>
            <a:r>
              <a:rPr lang="en-US" altLang="zh-TW" sz="2000" dirty="0" err="1" smtClean="0"/>
              <a:t>Dezip</a:t>
            </a:r>
            <a:r>
              <a:rPr lang="en-US" altLang="zh-TW" sz="2000" dirty="0" smtClean="0"/>
              <a:t> to your assigned directory</a:t>
            </a:r>
          </a:p>
          <a:p>
            <a:r>
              <a:rPr lang="en-US" altLang="zh-TW" sz="2000" dirty="0" smtClean="0"/>
              <a:t>Key </a:t>
            </a:r>
            <a:r>
              <a:rPr lang="en-US" altLang="zh-TW" sz="2000" i="1" u="sng" dirty="0" err="1" smtClean="0"/>
              <a:t>cvx_setup</a:t>
            </a:r>
            <a:r>
              <a:rPr lang="en-US" altLang="zh-TW" sz="2000" dirty="0" smtClean="0"/>
              <a:t> in the </a:t>
            </a:r>
            <a:r>
              <a:rPr lang="en-US" altLang="zh-TW" sz="2000" dirty="0" err="1" smtClean="0"/>
              <a:t>matlab</a:t>
            </a:r>
            <a:r>
              <a:rPr lang="en-US" altLang="zh-TW" sz="2000" dirty="0" smtClean="0"/>
              <a:t> command window</a:t>
            </a:r>
            <a:endParaRPr lang="zh-TW" altLang="en-US" sz="2000" dirty="0"/>
          </a:p>
        </p:txBody>
      </p:sp>
      <p:pic>
        <p:nvPicPr>
          <p:cNvPr id="4" name="圖片 3" descr="未命名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7544" y="2852936"/>
            <a:ext cx="4752528" cy="380202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08104" y="6021288"/>
            <a:ext cx="35071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i="1" dirty="0" smtClean="0">
                <a:solidFill>
                  <a:srgbClr val="FF0000"/>
                </a:solidFill>
              </a:rPr>
              <a:t>No errors! </a:t>
            </a:r>
            <a:r>
              <a:rPr lang="en-US" altLang="zh-TW" sz="1400" i="1" dirty="0" err="1" smtClean="0">
                <a:solidFill>
                  <a:srgbClr val="FF0000"/>
                </a:solidFill>
              </a:rPr>
              <a:t>cvx</a:t>
            </a:r>
            <a:r>
              <a:rPr lang="en-US" altLang="zh-TW" sz="1400" i="1" dirty="0" smtClean="0">
                <a:solidFill>
                  <a:srgbClr val="FF0000"/>
                </a:solidFill>
              </a:rPr>
              <a:t> has been successfully installed.</a:t>
            </a:r>
            <a:endParaRPr lang="zh-TW" altLang="en-US" sz="14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Cvx</a:t>
            </a:r>
            <a:r>
              <a:rPr lang="en-US" altLang="zh-TW" dirty="0" smtClean="0"/>
              <a:t>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 smtClean="0"/>
              <a:t>Between</a:t>
            </a:r>
            <a:r>
              <a:rPr lang="en-US" altLang="zh-TW" i="1" dirty="0" smtClean="0"/>
              <a:t> </a:t>
            </a:r>
            <a:r>
              <a:rPr lang="en-US" altLang="zh-TW" i="1" dirty="0" err="1" smtClean="0"/>
              <a:t>cvx_begin</a:t>
            </a:r>
            <a:r>
              <a:rPr lang="en-US" altLang="zh-TW" dirty="0" smtClean="0"/>
              <a:t> &amp; </a:t>
            </a:r>
            <a:r>
              <a:rPr lang="en-US" altLang="zh-TW" i="1" dirty="0" err="1" smtClean="0"/>
              <a:t>cvx_end</a:t>
            </a:r>
            <a:endParaRPr lang="en-US" altLang="zh-TW" i="1" dirty="0" smtClean="0"/>
          </a:p>
          <a:p>
            <a:pPr>
              <a:buNone/>
            </a:pPr>
            <a:r>
              <a:rPr lang="en-US" altLang="zh-TW" i="1" dirty="0" err="1" smtClean="0"/>
              <a:t>cvx_begin</a:t>
            </a:r>
            <a:endParaRPr lang="en-US" altLang="zh-TW" i="1" dirty="0" smtClean="0"/>
          </a:p>
          <a:p>
            <a:pPr>
              <a:buNone/>
            </a:pPr>
            <a:r>
              <a:rPr lang="en-US" altLang="zh-TW" i="1" dirty="0" smtClean="0"/>
              <a:t>variables w(</a:t>
            </a:r>
            <a:r>
              <a:rPr lang="en-US" altLang="zh-TW" i="1" dirty="0" err="1" smtClean="0"/>
              <a:t>x,y</a:t>
            </a:r>
            <a:r>
              <a:rPr lang="en-US" altLang="zh-TW" i="1" dirty="0" smtClean="0"/>
              <a:t>) (complex, symmetric,…..)(refer 3.2)</a:t>
            </a:r>
          </a:p>
          <a:p>
            <a:pPr>
              <a:buNone/>
            </a:pPr>
            <a:endParaRPr lang="en-US" altLang="zh-TW" i="1" dirty="0" smtClean="0"/>
          </a:p>
          <a:p>
            <a:pPr>
              <a:buNone/>
            </a:pPr>
            <a:r>
              <a:rPr lang="en-US" altLang="zh-TW" i="1" dirty="0" smtClean="0"/>
              <a:t>minimize (</a:t>
            </a:r>
            <a:r>
              <a:rPr lang="en-US" altLang="zh-TW" i="1" dirty="0" smtClean="0">
                <a:sym typeface="Wingdings" pitchFamily="2" charset="2"/>
              </a:rPr>
              <a:t>convex function</a:t>
            </a:r>
            <a:r>
              <a:rPr lang="en-US" altLang="zh-TW" i="1" dirty="0" smtClean="0"/>
              <a:t>) or Maximize (concave function) (refer 3.3)</a:t>
            </a:r>
          </a:p>
          <a:p>
            <a:pPr>
              <a:buNone/>
            </a:pPr>
            <a:endParaRPr lang="en-US" altLang="zh-TW" i="1" dirty="0" smtClean="0"/>
          </a:p>
          <a:p>
            <a:pPr>
              <a:buNone/>
            </a:pPr>
            <a:r>
              <a:rPr lang="en-US" altLang="zh-TW" i="1" dirty="0" smtClean="0"/>
              <a:t>subject to  </a:t>
            </a:r>
          </a:p>
          <a:p>
            <a:pPr>
              <a:buNone/>
            </a:pPr>
            <a:r>
              <a:rPr lang="en-US" altLang="zh-TW" i="1" dirty="0" smtClean="0"/>
              <a:t>…… constraints(refer to 3.4)</a:t>
            </a:r>
          </a:p>
          <a:p>
            <a:pPr>
              <a:buNone/>
            </a:pPr>
            <a:r>
              <a:rPr lang="en-US" altLang="zh-TW" i="1" dirty="0" err="1" smtClean="0"/>
              <a:t>cvx_end</a:t>
            </a:r>
            <a:endParaRPr lang="en-US" altLang="zh-TW" i="1" dirty="0" smtClean="0"/>
          </a:p>
          <a:p>
            <a:r>
              <a:rPr lang="en-US" altLang="zh-TW" i="1" dirty="0" smtClean="0"/>
              <a:t>Some special variables</a:t>
            </a:r>
          </a:p>
          <a:p>
            <a:pPr lvl="1"/>
            <a:r>
              <a:rPr lang="en-US" altLang="zh-TW" i="1" dirty="0" err="1" smtClean="0"/>
              <a:t>Cvx_optval</a:t>
            </a:r>
            <a:endParaRPr lang="en-US" altLang="zh-TW" i="1" dirty="0" smtClean="0"/>
          </a:p>
          <a:p>
            <a:pPr lvl="1"/>
            <a:r>
              <a:rPr lang="en-US" altLang="zh-TW" i="1" dirty="0" err="1" smtClean="0"/>
              <a:t>Cvx_status</a:t>
            </a:r>
            <a:endParaRPr lang="en-US" altLang="zh-TW" i="1" dirty="0" smtClean="0"/>
          </a:p>
          <a:p>
            <a:pPr lvl="1"/>
            <a:r>
              <a:rPr lang="en-US" altLang="zh-TW" i="1" dirty="0" err="1" smtClean="0"/>
              <a:t>Cvx_slvtol</a:t>
            </a:r>
            <a:endParaRPr lang="en-US" altLang="zh-TW" i="1" dirty="0" smtClean="0"/>
          </a:p>
          <a:p>
            <a:pPr lvl="1"/>
            <a:r>
              <a:rPr lang="en-US" altLang="zh-TW" i="1" dirty="0" err="1" smtClean="0"/>
              <a:t>Cvx_slvitr</a:t>
            </a:r>
            <a:endParaRPr lang="zh-TW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Some </a:t>
            </a:r>
            <a:r>
              <a:rPr lang="en-US" altLang="zh-TW" dirty="0" err="1" smtClean="0"/>
              <a:t>cvx</a:t>
            </a:r>
            <a:r>
              <a:rPr lang="en-US" altLang="zh-TW" dirty="0" smtClean="0"/>
              <a:t> functions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Quadprog</a:t>
            </a:r>
            <a:endParaRPr lang="en-US" altLang="zh-TW" dirty="0" smtClean="0"/>
          </a:p>
          <a:p>
            <a:r>
              <a:rPr lang="en-US" altLang="zh-TW" dirty="0" err="1" smtClean="0"/>
              <a:t>Linprog</a:t>
            </a:r>
            <a:endParaRPr lang="en-US" altLang="zh-TW" dirty="0" smtClean="0"/>
          </a:p>
          <a:p>
            <a:r>
              <a:rPr lang="en-US" altLang="zh-TW" dirty="0" smtClean="0"/>
              <a:t>Norm</a:t>
            </a:r>
          </a:p>
          <a:p>
            <a:pPr lvl="1"/>
            <a:r>
              <a:rPr lang="en-US" altLang="zh-TW" dirty="0" smtClean="0"/>
              <a:t>Norm(*,</a:t>
            </a:r>
            <a:r>
              <a:rPr lang="en-US" altLang="zh-TW" dirty="0" err="1" smtClean="0"/>
              <a:t>Inf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Norm(*,1)</a:t>
            </a:r>
          </a:p>
          <a:p>
            <a:r>
              <a:rPr lang="en-US" altLang="zh-TW" dirty="0" smtClean="0"/>
              <a:t>Refer to  3.5 and appendix B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Others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Set (refer to 3.6 and appendix B.3)</a:t>
            </a:r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>
              <a:sym typeface="Wingdings" pitchFamily="2" charset="2"/>
            </a:endParaRPr>
          </a:p>
          <a:p>
            <a:pPr>
              <a:buNone/>
            </a:pPr>
            <a:r>
              <a:rPr lang="en-US" altLang="zh-TW" dirty="0" smtClean="0">
                <a:sym typeface="Wingdings" pitchFamily="2" charset="2"/>
              </a:rPr>
              <a:t>                      </a:t>
            </a:r>
          </a:p>
          <a:p>
            <a:pPr>
              <a:buNone/>
            </a:pPr>
            <a:endParaRPr lang="en-US" altLang="zh-TW" dirty="0" smtClean="0">
              <a:sym typeface="Wingdings" pitchFamily="2" charset="2"/>
            </a:endParaRPr>
          </a:p>
          <a:p>
            <a:pPr>
              <a:buNone/>
            </a:pPr>
            <a:endParaRPr lang="en-US" altLang="zh-TW" dirty="0" smtClean="0">
              <a:sym typeface="Wingdings" pitchFamily="2" charset="2"/>
            </a:endParaRPr>
          </a:p>
          <a:p>
            <a:endParaRPr lang="en-US" altLang="zh-TW" dirty="0" smtClean="0">
              <a:sym typeface="Wingdings" pitchFamily="2" charset="2"/>
            </a:endParaRPr>
          </a:p>
          <a:p>
            <a:r>
              <a:rPr lang="en-US" altLang="zh-TW" dirty="0" smtClean="0">
                <a:sym typeface="Wingdings" pitchFamily="2" charset="2"/>
              </a:rPr>
              <a:t>Dual variables (refer to 3.7)</a:t>
            </a:r>
          </a:p>
          <a:p>
            <a:r>
              <a:rPr lang="en-US" altLang="zh-TW" dirty="0" smtClean="0">
                <a:sym typeface="Wingdings" pitchFamily="2" charset="2"/>
              </a:rPr>
              <a:t>Expression holders (refer to 3.8)</a:t>
            </a:r>
          </a:p>
          <a:p>
            <a:r>
              <a:rPr lang="en-US" altLang="zh-TW" dirty="0" smtClean="0">
                <a:sym typeface="Wingdings" pitchFamily="2" charset="2"/>
              </a:rPr>
              <a:t>DCP </a:t>
            </a:r>
            <a:r>
              <a:rPr lang="en-US" altLang="zh-TW" dirty="0" err="1" smtClean="0">
                <a:sym typeface="Wingdings" pitchFamily="2" charset="2"/>
              </a:rPr>
              <a:t>ruleset</a:t>
            </a:r>
            <a:r>
              <a:rPr lang="en-US" altLang="zh-TW" dirty="0" smtClean="0">
                <a:sym typeface="Wingdings" pitchFamily="2" charset="2"/>
              </a:rPr>
              <a:t> (refer to 4)</a:t>
            </a:r>
          </a:p>
          <a:p>
            <a:r>
              <a:rPr lang="en-US" altLang="zh-TW" dirty="0" err="1" smtClean="0">
                <a:sym typeface="Wingdings" pitchFamily="2" charset="2"/>
              </a:rPr>
              <a:t>Semidefinite</a:t>
            </a:r>
            <a:r>
              <a:rPr lang="en-US" altLang="zh-TW" dirty="0" smtClean="0">
                <a:sym typeface="Wingdings" pitchFamily="2" charset="2"/>
              </a:rPr>
              <a:t> programming using </a:t>
            </a:r>
            <a:r>
              <a:rPr lang="en-US" altLang="zh-TW" dirty="0" err="1" smtClean="0">
                <a:sym typeface="Wingdings" pitchFamily="2" charset="2"/>
              </a:rPr>
              <a:t>cvx</a:t>
            </a:r>
            <a:r>
              <a:rPr lang="en-US" altLang="zh-TW" dirty="0" smtClean="0">
                <a:sym typeface="Wingdings" pitchFamily="2" charset="2"/>
              </a:rPr>
              <a:t> (refer to 6)</a:t>
            </a:r>
          </a:p>
          <a:p>
            <a:r>
              <a:rPr lang="en-US" altLang="zh-TW" dirty="0" smtClean="0">
                <a:sym typeface="Wingdings" pitchFamily="2" charset="2"/>
              </a:rPr>
              <a:t>Geometric programming using </a:t>
            </a:r>
            <a:r>
              <a:rPr lang="en-US" altLang="zh-TW" dirty="0" err="1" smtClean="0">
                <a:sym typeface="Wingdings" pitchFamily="2" charset="2"/>
              </a:rPr>
              <a:t>cvx</a:t>
            </a:r>
            <a:r>
              <a:rPr lang="en-US" altLang="zh-TW" dirty="0" smtClean="0">
                <a:sym typeface="Wingdings" pitchFamily="2" charset="2"/>
              </a:rPr>
              <a:t>(refer to 7)</a:t>
            </a:r>
            <a:endParaRPr lang="en-US" altLang="zh-TW" dirty="0" smtClean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988840"/>
            <a:ext cx="2229586" cy="498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9986" y="2641675"/>
            <a:ext cx="2766070" cy="1088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Q2: Beamforming Design </a:t>
            </a:r>
            <a:r>
              <a:rPr lang="en-US" altLang="zh-TW" dirty="0" smtClean="0"/>
              <a:t>(1/4)</a:t>
            </a:r>
            <a:endParaRPr lang="en-IN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22" y="2313032"/>
            <a:ext cx="7865318" cy="450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00" y="1541165"/>
            <a:ext cx="62103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639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15616"/>
          </a:xfrm>
        </p:spPr>
        <p:txBody>
          <a:bodyPr/>
          <a:lstStyle/>
          <a:p>
            <a:r>
              <a:rPr lang="en-US" altLang="zh-TW" dirty="0"/>
              <a:t>Q2: Beamforming Design </a:t>
            </a:r>
            <a:r>
              <a:rPr lang="en-US" altLang="zh-TW" dirty="0" smtClean="0"/>
              <a:t>(2/4)</a:t>
            </a:r>
            <a:endParaRPr lang="en-IN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4704"/>
            <a:ext cx="7883960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386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Q2: Beamforming Design </a:t>
            </a:r>
            <a:r>
              <a:rPr lang="en-US" altLang="zh-TW" dirty="0" smtClean="0"/>
              <a:t>(3/4)</a:t>
            </a:r>
            <a:endParaRPr lang="en-IN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2776"/>
            <a:ext cx="668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60848"/>
            <a:ext cx="6867525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949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r>
              <a:rPr lang="en-US" altLang="zh-TW" dirty="0"/>
              <a:t>Q2: Beamforming Design </a:t>
            </a:r>
            <a:r>
              <a:rPr lang="en-US" altLang="zh-TW" smtClean="0"/>
              <a:t>(4/4)</a:t>
            </a:r>
            <a:endParaRPr lang="en-IN" dirty="0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13751"/>
            <a:ext cx="7632848" cy="589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252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Q3: </a:t>
            </a:r>
            <a:r>
              <a:rPr lang="en-US" altLang="zh-TW" dirty="0" err="1" smtClean="0"/>
              <a:t>Chebyshev</a:t>
            </a:r>
            <a:r>
              <a:rPr lang="en-US" altLang="zh-TW" dirty="0" smtClean="0"/>
              <a:t> Center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Consider </a:t>
            </a:r>
            <a:r>
              <a:rPr lang="en-US" altLang="zh-TW" sz="2000" dirty="0"/>
              <a:t>a </a:t>
            </a:r>
            <a:r>
              <a:rPr lang="en-US" altLang="zh-TW" sz="2000" dirty="0" smtClean="0"/>
              <a:t>polyhedron </a:t>
            </a:r>
            <a:r>
              <a:rPr lang="en-US" altLang="zh-TW" sz="2000" dirty="0"/>
              <a:t>composed of the </a:t>
            </a:r>
            <a:r>
              <a:rPr lang="en-US" altLang="zh-TW" sz="2000" dirty="0" err="1"/>
              <a:t>halfspaces</a:t>
            </a:r>
            <a:r>
              <a:rPr lang="en-US" altLang="zh-TW" sz="2000" dirty="0" smtClean="0"/>
              <a:t>,                ,              ,</a:t>
            </a:r>
          </a:p>
          <a:p>
            <a:pPr>
              <a:buNone/>
            </a:pPr>
            <a:r>
              <a:rPr lang="en-US" altLang="zh-TW" sz="2000" dirty="0"/>
              <a:t> </a:t>
            </a:r>
            <a:r>
              <a:rPr lang="en-US" altLang="zh-TW" sz="2000" dirty="0" smtClean="0"/>
              <a:t>                     , and               ,  please plot </a:t>
            </a:r>
            <a:r>
              <a:rPr lang="en-US" altLang="zh-TW" sz="2000" dirty="0"/>
              <a:t>the maximum norm ball inside the polyhedron  and show the center and the radius of it</a:t>
            </a:r>
            <a:endParaRPr lang="zh-TW" altLang="en-US" sz="2000" dirty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169" name="Object 1"/>
          <p:cNvGraphicFramePr>
            <a:graphicFrameLocks noChangeAspect="1"/>
          </p:cNvGraphicFramePr>
          <p:nvPr/>
        </p:nvGraphicFramePr>
        <p:xfrm>
          <a:off x="6300192" y="1700808"/>
          <a:ext cx="8096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" name="Equation" r:id="rId3" imgW="812447" imgH="228501" progId="Equation.DSMT4">
                  <p:embed/>
                </p:oleObj>
              </mc:Choice>
              <mc:Fallback>
                <p:oleObj name="Equation" r:id="rId3" imgW="812447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700808"/>
                        <a:ext cx="80962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7236296" y="1688232"/>
          <a:ext cx="7334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" name="Equation" r:id="rId5" imgW="736600" imgH="228600" progId="Equation.DSMT4">
                  <p:embed/>
                </p:oleObj>
              </mc:Choice>
              <mc:Fallback>
                <p:oleObj name="Equation" r:id="rId5" imgW="73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1688232"/>
                        <a:ext cx="73342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899592" y="1916832"/>
          <a:ext cx="8667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Equation" r:id="rId7" imgW="863225" imgH="393529" progId="Equation.DSMT4">
                  <p:embed/>
                </p:oleObj>
              </mc:Choice>
              <mc:Fallback>
                <p:oleObj name="Equation" r:id="rId7" imgW="863225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916832"/>
                        <a:ext cx="86677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2411760" y="1916832"/>
          <a:ext cx="7620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Equation" r:id="rId9" imgW="761669" imgH="393529" progId="Equation.DSMT4">
                  <p:embed/>
                </p:oleObj>
              </mc:Choice>
              <mc:Fallback>
                <p:oleObj name="Equation" r:id="rId9" imgW="76166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916832"/>
                        <a:ext cx="7620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-324544" y="2708920"/>
            <a:ext cx="53340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向右箭號 13"/>
          <p:cNvSpPr/>
          <p:nvPr/>
        </p:nvSpPr>
        <p:spPr>
          <a:xfrm>
            <a:off x="4283968" y="4221088"/>
            <a:ext cx="504056" cy="86409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18520" y="2708920"/>
            <a:ext cx="53340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9400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Q3: </a:t>
            </a:r>
            <a:r>
              <a:rPr lang="en-US" altLang="zh-TW" dirty="0" err="1"/>
              <a:t>Chebyshev</a:t>
            </a:r>
            <a:r>
              <a:rPr lang="en-US" altLang="zh-TW" dirty="0"/>
              <a:t> Center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en-IN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8069223" cy="2215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9105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Q4: transmit </a:t>
            </a:r>
            <a:r>
              <a:rPr lang="en-US" altLang="zh-TW" dirty="0" err="1" smtClean="0"/>
              <a:t>beamforming</a:t>
            </a:r>
            <a:r>
              <a:rPr lang="en-US" altLang="zh-TW" dirty="0" smtClean="0"/>
              <a:t> (1/4)  </a:t>
            </a:r>
            <a:endParaRPr lang="zh-TW" altLang="en-US" dirty="0"/>
          </a:p>
        </p:txBody>
      </p:sp>
      <p:pic>
        <p:nvPicPr>
          <p:cNvPr id="4" name="內容版面配置區 3" descr="transmit beamform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79712" y="1700808"/>
            <a:ext cx="5153025" cy="35433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Q4: transmit </a:t>
            </a:r>
            <a:r>
              <a:rPr lang="en-US" altLang="zh-TW" dirty="0" err="1" smtClean="0"/>
              <a:t>beamforming</a:t>
            </a:r>
            <a:r>
              <a:rPr lang="en-US" altLang="zh-TW" dirty="0" smtClean="0"/>
              <a:t> (2/4) 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>
          <a:xfrm>
            <a:off x="179512" y="1535113"/>
            <a:ext cx="4040188" cy="63976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zh-TW" dirty="0" smtClean="0"/>
              <a:t> Total power minimization</a:t>
            </a:r>
            <a:endParaRPr lang="zh-TW" altLang="en-US" dirty="0" smtClean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3"/>
          </p:nvPr>
        </p:nvSpPr>
        <p:spPr>
          <a:xfrm>
            <a:off x="4778697" y="1535113"/>
            <a:ext cx="4041775" cy="63976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zh-TW" dirty="0" smtClean="0"/>
              <a:t> Epigraph method</a:t>
            </a:r>
            <a:endParaRPr lang="zh-TW" altLang="en-US" dirty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462117" y="3000606"/>
          <a:ext cx="3562078" cy="2206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name="Equation" r:id="rId3" imgW="2247840" imgH="1384200" progId="Equation.DSMT4">
                  <p:embed/>
                </p:oleObj>
              </mc:Choice>
              <mc:Fallback>
                <p:oleObj name="Equation" r:id="rId3" imgW="2247840" imgH="1384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17" y="3000606"/>
                        <a:ext cx="3562078" cy="2206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9271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min </a:t>
            </a:r>
            <a:endParaRPr kumimoji="1" lang="en-US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4709130" y="2819053"/>
          <a:ext cx="4407278" cy="3058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Equation" r:id="rId5" imgW="2781000" imgH="1917360" progId="Equation.DSMT4">
                  <p:embed/>
                </p:oleObj>
              </mc:Choice>
              <mc:Fallback>
                <p:oleObj name="Equation" r:id="rId5" imgW="2781000" imgH="19173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9130" y="2819053"/>
                        <a:ext cx="4407278" cy="30582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Q4: transmit </a:t>
            </a:r>
            <a:r>
              <a:rPr lang="en-US" altLang="zh-TW" dirty="0" err="1" smtClean="0"/>
              <a:t>beamforming</a:t>
            </a:r>
            <a:r>
              <a:rPr lang="en-US" altLang="zh-TW" dirty="0" smtClean="0"/>
              <a:t> (3/4) </a:t>
            </a:r>
            <a:endParaRPr lang="zh-TW" altLang="en-US" dirty="0"/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531813" y="1521618"/>
          <a:ext cx="6440487" cy="421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0" name="Equation" r:id="rId3" imgW="4063680" imgH="2641320" progId="Equation.DSMT4">
                  <p:embed/>
                </p:oleObj>
              </mc:Choice>
              <mc:Fallback>
                <p:oleObj name="Equation" r:id="rId3" imgW="4063680" imgH="26413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3" y="1521618"/>
                        <a:ext cx="6440487" cy="421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向右箭號 9"/>
          <p:cNvSpPr/>
          <p:nvPr/>
        </p:nvSpPr>
        <p:spPr>
          <a:xfrm>
            <a:off x="2555776" y="4694955"/>
            <a:ext cx="360040" cy="379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右箭號 11"/>
          <p:cNvSpPr/>
          <p:nvPr/>
        </p:nvSpPr>
        <p:spPr>
          <a:xfrm>
            <a:off x="2483768" y="1834059"/>
            <a:ext cx="360040" cy="379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2946252" y="4642371"/>
          <a:ext cx="1697756" cy="451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1" name="Equation" r:id="rId5" imgW="1002960" imgH="266400" progId="Equation.DSMT4">
                  <p:embed/>
                </p:oleObj>
              </mc:Choice>
              <mc:Fallback>
                <p:oleObj name="Equation" r:id="rId5" imgW="1002960" imgH="266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252" y="4642371"/>
                        <a:ext cx="1697756" cy="451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2859088" y="1772816"/>
          <a:ext cx="19558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name="Equation" r:id="rId7" imgW="1155600" imgH="253800" progId="Equation.DSMT4">
                  <p:embed/>
                </p:oleObj>
              </mc:Choice>
              <mc:Fallback>
                <p:oleObj name="Equation" r:id="rId7" imgW="1155600" imgH="253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1772816"/>
                        <a:ext cx="19558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4044825" y="5714454"/>
          <a:ext cx="49196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Equation" r:id="rId9" imgW="2908080" imgH="266400" progId="Equation.DSMT4">
                  <p:embed/>
                </p:oleObj>
              </mc:Choice>
              <mc:Fallback>
                <p:oleObj name="Equation" r:id="rId9" imgW="2908080" imgH="2664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825" y="5714454"/>
                        <a:ext cx="491966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彎箭號 16"/>
          <p:cNvSpPr/>
          <p:nvPr/>
        </p:nvSpPr>
        <p:spPr>
          <a:xfrm rot="5400000">
            <a:off x="6615656" y="3905624"/>
            <a:ext cx="2155656" cy="105839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Q4: transmit </a:t>
            </a:r>
            <a:r>
              <a:rPr lang="en-US" altLang="zh-TW" dirty="0" err="1" smtClean="0"/>
              <a:t>beamforming</a:t>
            </a:r>
            <a:r>
              <a:rPr lang="en-US" altLang="zh-TW" dirty="0" smtClean="0"/>
              <a:t> (4/4)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Angle spectrum</a:t>
            </a:r>
            <a:endParaRPr lang="zh-TW" altLang="en-US" dirty="0"/>
          </a:p>
        </p:txBody>
      </p:sp>
      <p:pic>
        <p:nvPicPr>
          <p:cNvPr id="4" name="圖片 3" descr="transmit beamforming_resul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83670" y="2113945"/>
            <a:ext cx="5940658" cy="4447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Q5: Power allocation (a)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Worst case design</a:t>
            </a: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2555776" y="2060848"/>
          <a:ext cx="3402013" cy="160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Equation" r:id="rId3" imgW="1663560" imgH="787320" progId="Equation.DSMT4">
                  <p:embed/>
                </p:oleObj>
              </mc:Choice>
              <mc:Fallback>
                <p:oleObj name="Equation" r:id="rId3" imgW="1663560" imgH="7873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060848"/>
                        <a:ext cx="3402013" cy="160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上-下雙向箭號 4"/>
          <p:cNvSpPr/>
          <p:nvPr/>
        </p:nvSpPr>
        <p:spPr>
          <a:xfrm>
            <a:off x="3995936" y="3789040"/>
            <a:ext cx="484632" cy="64807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2555875" y="4504779"/>
          <a:ext cx="3402013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Equation" r:id="rId5" imgW="1663560" imgH="812520" progId="Equation.DSMT4">
                  <p:embed/>
                </p:oleObj>
              </mc:Choice>
              <mc:Fallback>
                <p:oleObj name="Equation" r:id="rId5" imgW="1663560" imgH="8125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504779"/>
                        <a:ext cx="3402013" cy="166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Q5: Power allocation (a)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Epigraph form</a:t>
            </a:r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r>
              <a:rPr lang="en-US" altLang="zh-TW" sz="2000" dirty="0" smtClean="0"/>
              <a:t>Geometric Programming (GP)  (refer to lecture 4, P4)</a:t>
            </a:r>
          </a:p>
          <a:p>
            <a:endParaRPr lang="zh-TW" altLang="en-US" sz="2000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930054" y="1700808"/>
          <a:ext cx="3586162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3" imgW="1930320" imgH="1117440" progId="Equation.DSMT4">
                  <p:embed/>
                </p:oleObj>
              </mc:Choice>
              <mc:Fallback>
                <p:oleObj name="Equation" r:id="rId3" imgW="1930320" imgH="11174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054" y="1700808"/>
                        <a:ext cx="3586162" cy="207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319338" y="4346575"/>
          <a:ext cx="5565775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Equation" r:id="rId5" imgW="2997000" imgH="914400" progId="Equation.DSMT4">
                  <p:embed/>
                </p:oleObj>
              </mc:Choice>
              <mc:Fallback>
                <p:oleObj name="Equation" r:id="rId5" imgW="2997000" imgH="914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4346575"/>
                        <a:ext cx="5565775" cy="169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Q5: Power allocation (a)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Variables of change</a:t>
            </a:r>
            <a:endParaRPr lang="en-US" altLang="zh-TW" sz="1600" dirty="0" smtClean="0"/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r>
              <a:rPr lang="en-US" altLang="zh-TW" sz="2000" dirty="0" smtClean="0"/>
              <a:t>Convex problem</a:t>
            </a:r>
          </a:p>
          <a:p>
            <a:endParaRPr lang="zh-TW" altLang="en-US" sz="2000" dirty="0"/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2090738" y="2184400"/>
          <a:ext cx="511810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3" imgW="3035160" imgH="990360" progId="Equation.DSMT4">
                  <p:embed/>
                </p:oleObj>
              </mc:Choice>
              <mc:Fallback>
                <p:oleObj name="Equation" r:id="rId3" imgW="3035160" imgH="9903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2184400"/>
                        <a:ext cx="5118100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2411760" y="4379044"/>
          <a:ext cx="3986213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5" imgW="2145960" imgH="1155600" progId="Equation.DSMT4">
                  <p:embed/>
                </p:oleObj>
              </mc:Choice>
              <mc:Fallback>
                <p:oleObj name="Equation" r:id="rId5" imgW="2145960" imgH="1155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379044"/>
                        <a:ext cx="3986213" cy="214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Q5: Power allocation (b)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000" dirty="0" smtClean="0"/>
              <a:t>Minimize the total power, subject to all the users’ SINRs are not less than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pPr>
              <a:buNone/>
            </a:pPr>
            <a:endParaRPr lang="en-US" altLang="zh-TW" dirty="0" smtClean="0"/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The problem can be represented  as an Linear programming (LP)  (refer to lecture 3, P22)</a:t>
            </a:r>
            <a:endParaRPr lang="zh-TW" altLang="en-US" sz="2000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8460432" y="1556792"/>
          <a:ext cx="296034" cy="409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Equation" r:id="rId3" imgW="164880" imgH="228600" progId="Equation.DSMT4">
                  <p:embed/>
                </p:oleObj>
              </mc:Choice>
              <mc:Fallback>
                <p:oleObj name="Equation" r:id="rId3" imgW="16488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0432" y="1556792"/>
                        <a:ext cx="296034" cy="4098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2555776" y="2276872"/>
          <a:ext cx="375126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5" imgW="2019240" imgH="1231560" progId="Equation.DSMT4">
                  <p:embed/>
                </p:oleObj>
              </mc:Choice>
              <mc:Fallback>
                <p:oleObj name="Equation" r:id="rId5" imgW="2019240" imgH="12315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276872"/>
                        <a:ext cx="3751263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Q5: Power allocation (c)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Take the worst user’s SINR in (a) in place of</a:t>
            </a:r>
          </a:p>
          <a:p>
            <a:pPr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in (b), please re-design the transmit power , and compare with (a) </a:t>
            </a:r>
            <a:endParaRPr lang="zh-TW" altLang="en-US" dirty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8028384" y="1556792"/>
          <a:ext cx="4318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3" imgW="164880" imgH="228600" progId="Equation.DSMT4">
                  <p:embed/>
                </p:oleObj>
              </mc:Choice>
              <mc:Fallback>
                <p:oleObj name="Equation" r:id="rId3" imgW="16488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384" y="1556792"/>
                        <a:ext cx="431800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Appendix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Power allocation (worst case)</a:t>
            </a:r>
            <a:endParaRPr lang="zh-TW" altLang="en-US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404813" y="2084388"/>
          <a:ext cx="4173537" cy="437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3" imgW="2476440" imgH="2590560" progId="Equation.DSMT4">
                  <p:embed/>
                </p:oleObj>
              </mc:Choice>
              <mc:Fallback>
                <p:oleObj name="Equation" r:id="rId3" imgW="2476440" imgH="25905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2084388"/>
                        <a:ext cx="4173537" cy="437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4788024" y="2072258"/>
          <a:ext cx="347662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Equation" r:id="rId5" imgW="2070000" imgH="850680" progId="Equation.DSMT4">
                  <p:embed/>
                </p:oleObj>
              </mc:Choice>
              <mc:Fallback>
                <p:oleObj name="Equation" r:id="rId5" imgW="2070000" imgH="8506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2072258"/>
                        <a:ext cx="347662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</TotalTime>
  <Words>404</Words>
  <Application>Microsoft Office PowerPoint</Application>
  <PresentationFormat>On-screen Show (4:3)</PresentationFormat>
  <Paragraphs>88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新細明體</vt:lpstr>
      <vt:lpstr>Arial</vt:lpstr>
      <vt:lpstr>Calibri</vt:lpstr>
      <vt:lpstr>Times New Roman</vt:lpstr>
      <vt:lpstr>Wingdings</vt:lpstr>
      <vt:lpstr>Office 佈景主題</vt:lpstr>
      <vt:lpstr>Equation</vt:lpstr>
      <vt:lpstr>CVX_class 2024</vt:lpstr>
      <vt:lpstr>Cvx tool setup</vt:lpstr>
      <vt:lpstr>Cvx programming</vt:lpstr>
      <vt:lpstr>Some cvx functions </vt:lpstr>
      <vt:lpstr>Others</vt:lpstr>
      <vt:lpstr>Q2: Beamforming Design (1/4)</vt:lpstr>
      <vt:lpstr>Q2: Beamforming Design (2/4)</vt:lpstr>
      <vt:lpstr>Q2: Beamforming Design (3/4)</vt:lpstr>
      <vt:lpstr>Q2: Beamforming Design (4/4)</vt:lpstr>
      <vt:lpstr>Q3: Chebyshev Center (1/2)</vt:lpstr>
      <vt:lpstr>Q3: Chebyshev Center (2/2)</vt:lpstr>
      <vt:lpstr>Q4: transmit beamforming (1/4)  </vt:lpstr>
      <vt:lpstr>Q4: transmit beamforming (2/4) </vt:lpstr>
      <vt:lpstr>Q4: transmit beamforming (3/4) </vt:lpstr>
      <vt:lpstr>Q4: transmit beamforming (4/4) </vt:lpstr>
      <vt:lpstr>Q5: Power allocation (a) (1/3)</vt:lpstr>
      <vt:lpstr>Q5: Power allocation (a) (2/3)</vt:lpstr>
      <vt:lpstr>Q5: Power allocation (a) (3/3)</vt:lpstr>
      <vt:lpstr>Q5: Power allocation (b)</vt:lpstr>
      <vt:lpstr>Q5: Power allocation (c)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ham</dc:creator>
  <cp:lastModifiedBy>adm</cp:lastModifiedBy>
  <cp:revision>194</cp:revision>
  <dcterms:created xsi:type="dcterms:W3CDTF">2011-12-05T05:22:47Z</dcterms:created>
  <dcterms:modified xsi:type="dcterms:W3CDTF">2024-11-18T04:33:37Z</dcterms:modified>
</cp:coreProperties>
</file>